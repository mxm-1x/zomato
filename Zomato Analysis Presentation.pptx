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354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B241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2.6–3.0</c:v>
                  </c:pt>
                  <c:pt idx="1">
                    <c:v>3.0–3.4</c:v>
                  </c:pt>
                  <c:pt idx="2">
                    <c:v>3.4–3.6</c:v>
                  </c:pt>
                  <c:pt idx="3">
                    <c:v>3.6–3.8</c:v>
                  </c:pt>
                  <c:pt idx="4">
                    <c:v>3.8–4.0</c:v>
                  </c:pt>
                  <c:pt idx="5">
                    <c:v>4.0–4.2</c:v>
                  </c:pt>
                  <c:pt idx="6">
                    <c:v>4.2–4.6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18</c:v>
                </c:pt>
                <c:pt idx="2">
                  <c:v>32</c:v>
                </c:pt>
                <c:pt idx="3">
                  <c:v>38</c:v>
                </c:pt>
                <c:pt idx="4">
                  <c:v>28</c:v>
                </c:pt>
                <c:pt idx="5">
                  <c:v>16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4E5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5A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A666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D727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 ₹200</c:v>
                  </c:pt>
                  <c:pt idx="1">
                    <c:v>₹200–400</c:v>
                  </c:pt>
                  <c:pt idx="2">
                    <c:v>₹400–600</c:v>
                  </c:pt>
                  <c:pt idx="3">
                    <c:v>₹600–800</c:v>
                  </c:pt>
                  <c:pt idx="4">
                    <c:v>₹800+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3.42</c:v>
                </c:pt>
                <c:pt idx="1">
                  <c:v>3.56</c:v>
                </c:pt>
                <c:pt idx="2">
                  <c:v>3.71</c:v>
                </c:pt>
                <c:pt idx="3">
                  <c:v>3.88</c:v>
                </c:pt>
                <c:pt idx="4">
                  <c:v>3.95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3"/>
        </c:scaling>
        <c:delete val="0"/>
        <c:axPos val="b"/>
        <c:majorGridlines>
          <c:spPr>
            <a:ln w="6350" cap="flat">
              <a:solidFill>
                <a:srgbClr val="E8D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Online Order Impact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Online Order</c:v>
                  </c:pt>
                  <c:pt idx="1">
                    <c:v>With Online Order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3.49</c:v>
                </c:pt>
                <c:pt idx="1">
                  <c:v>3.86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3"/>
        </c:scaling>
        <c:delete val="0"/>
        <c:axPos val="l"/>
        <c:majorGridlines>
          <c:spPr>
            <a:ln w="6350" cap="flat">
              <a:solidFill>
                <a:srgbClr val="E8D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Table Booking Impact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Table Booking</c:v>
                  </c:pt>
                  <c:pt idx="1">
                    <c:v>With Table Booking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3.6</c:v>
                </c:pt>
                <c:pt idx="1">
                  <c:v>4.19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3"/>
        </c:scaling>
        <c:delete val="0"/>
        <c:axPos val="l"/>
        <c:majorGridlines>
          <c:spPr>
            <a:ln w="6350" cap="flat">
              <a:solidFill>
                <a:srgbClr val="E8D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1645920" cy="1645920"/>
          </a:xfrm>
          <a:prstGeom prst="ellipse">
            <a:avLst/>
          </a:prstGeom>
          <a:solidFill>
            <a:srgbClr val="E23744">
              <a:alpha val="20000"/>
            </a:srgbClr>
          </a:solidFill>
          <a:ln w="12700">
            <a:solidFill>
              <a:srgbClr val="E237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731520"/>
            <a:ext cx="1097280" cy="1097280"/>
          </a:xfrm>
          <a:prstGeom prst="ellipse">
            <a:avLst/>
          </a:prstGeom>
          <a:solidFill>
            <a:srgbClr val="F77F00">
              <a:alpha val="25000"/>
            </a:srgbClr>
          </a:solidFill>
          <a:ln w="12700">
            <a:solidFill>
              <a:srgbClr val="F77F0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3200400"/>
            <a:ext cx="1828800" cy="1828800"/>
          </a:xfrm>
          <a:prstGeom prst="ellipse">
            <a:avLst/>
          </a:prstGeom>
          <a:solidFill>
            <a:srgbClr val="E23744">
              <a:alpha val="15000"/>
            </a:srgbClr>
          </a:solidFill>
          <a:ln w="12700">
            <a:solidFill>
              <a:srgbClr val="E23744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3840480"/>
            <a:ext cx="914400" cy="914400"/>
          </a:xfrm>
          <a:prstGeom prst="ellipse">
            <a:avLst/>
          </a:prstGeom>
          <a:solidFill>
            <a:srgbClr val="F77F00">
              <a:alpha val="20000"/>
            </a:srgbClr>
          </a:solidFill>
          <a:ln w="12700">
            <a:solidFill>
              <a:srgbClr val="F77F00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ZOMATO 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3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Report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A090"/>
                </a:solidFill>
              </a:rPr>
              <a:t>An in-depth analysis of 148 restaurants — ratings, costs, services &amp; success drivers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1828800" cy="822960"/>
          </a:xfrm>
          <a:prstGeom prst="rect">
            <a:avLst/>
          </a:prstGeom>
          <a:solidFill>
            <a:srgbClr val="2C1A1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005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744"/>
                </a:solidFill>
              </a:rPr>
              <a:t>148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4407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090"/>
                </a:solidFill>
              </a:rPr>
              <a:t>Restaurants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3977640"/>
            <a:ext cx="1828800" cy="822960"/>
          </a:xfrm>
          <a:prstGeom prst="rect">
            <a:avLst/>
          </a:prstGeom>
          <a:solidFill>
            <a:srgbClr val="2C1A1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005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744"/>
                </a:solidFill>
              </a:rPr>
              <a:t>3.63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68880" y="4407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090"/>
                </a:solidFill>
              </a:rPr>
              <a:t>Avg Rating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977640"/>
            <a:ext cx="1828800" cy="822960"/>
          </a:xfrm>
          <a:prstGeom prst="rect">
            <a:avLst/>
          </a:prstGeom>
          <a:solidFill>
            <a:srgbClr val="2C1A1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005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744"/>
                </a:solidFill>
              </a:rPr>
              <a:t>₹418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0" y="4407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090"/>
                </a:solidFill>
              </a:rPr>
              <a:t>Avg Cost/2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3977640"/>
            <a:ext cx="1828800" cy="822960"/>
          </a:xfrm>
          <a:prstGeom prst="rect">
            <a:avLst/>
          </a:prstGeom>
          <a:solidFill>
            <a:srgbClr val="2C1A1A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005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744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75120" y="4407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A090"/>
                </a:solidFill>
              </a:rPr>
              <a:t>Categories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4A4A"/>
                </a:solidFill>
              </a:rPr>
              <a:t>Five analytical lenses on Zomato restaurant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80467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721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Rating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196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How restaurants stack up across quality bands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502920" cy="80467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4323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Cost vs Quality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779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Does price predict performance?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37560"/>
            <a:ext cx="502920" cy="80467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924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Online Order Impact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398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Service features and their effect on ratings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4173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417320"/>
            <a:ext cx="502920" cy="80467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173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4721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Correlation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18196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Uncovering the strongest success drivers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3774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377440"/>
            <a:ext cx="502920" cy="80467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3774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4323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Key Business Insights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2779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Actionable takeaways from the data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Zomato Restaurant Intelligence  | 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Distribution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01 / 05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23444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234440"/>
            <a:ext cx="64008" cy="10972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3441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3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3.63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080760" y="1801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</a:rPr>
              <a:t>Average Rating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80760" y="20391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Out of 5.0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2496312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0" y="2496312"/>
            <a:ext cx="64008" cy="10972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3.5–4.0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080760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</a:rPr>
              <a:t>Sweet Spot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3300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Most restaurants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3758184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3758184"/>
            <a:ext cx="64008" cy="109728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867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A7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080760" y="43251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</a:rPr>
              <a:t>Peak Rating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80760" y="45628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Onesta &amp; Empire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0A0A"/>
                </a:solidFill>
              </a:rPr>
              <a:t>💡  Insight: 70% of restaurants cluster between 3.5 – 4.0 stars — indicating a competitive mid-tier market with few true outliers.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vs. 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02 / 05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234440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234440"/>
            <a:ext cx="64008" cy="12801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3533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0.28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080760" y="18470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0A"/>
                </a:solidFill>
              </a:rPr>
              <a:t>Correlation Coefficient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21214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Cost → Rating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269748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0" y="2697480"/>
            <a:ext cx="64008" cy="17373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</a:rPr>
              <a:t>What does r=0.28 mean?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80760" y="3127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→  Weak-to-moderate positive link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80760" y="34198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→  Pricier ≠ always better rated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37124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→  Quality has many other drivers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80760" y="40050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→  Value-for-money still possible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0A0A"/>
                </a:solidFill>
              </a:rPr>
              <a:t>💡  Insight: Cost explains only 28% of rating variance. Budget restaurants can still achieve top ratings through service quality and experience.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Features &amp; Ratings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03 / 05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480560" y="123444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886200"/>
            <a:ext cx="3840480" cy="658368"/>
          </a:xfrm>
          <a:prstGeom prst="rect">
            <a:avLst/>
          </a:prstGeom>
          <a:solidFill>
            <a:srgbClr val="FFF0E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3913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3744"/>
                </a:solidFill>
              </a:rPr>
              <a:t>+0.37 pts  (10.6% improvement)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" y="4233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Online Order Lift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0" y="3886200"/>
            <a:ext cx="3840480" cy="658368"/>
          </a:xfrm>
          <a:prstGeom prst="rect">
            <a:avLst/>
          </a:prstGeom>
          <a:solidFill>
            <a:srgbClr val="FFF0EE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9160" y="3913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7F00"/>
                </a:solidFill>
              </a:rPr>
              <a:t>+0.59 pts  (16.4% improvement)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4233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Table Booking Lift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0A0A"/>
                </a:solidFill>
              </a:rPr>
              <a:t>💡  Insight: Table booking shows the highest rating lift (+0.59). Invest in reservation systems for the greatest quality perception boost.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04 / 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Votes (Engagement)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81912"/>
            <a:ext cx="4389120" cy="292608"/>
          </a:xfrm>
          <a:prstGeom prst="rect">
            <a:avLst/>
          </a:prstGeom>
          <a:solidFill>
            <a:srgbClr val="E8D8D0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81912"/>
            <a:ext cx="4301338" cy="29260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819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744"/>
                </a:solidFill>
              </a:rPr>
              <a:t>r = 0.49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07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Strong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Online Order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4389120" cy="292608"/>
          </a:xfrm>
          <a:prstGeom prst="rect">
            <a:avLst/>
          </a:prstGeom>
          <a:solidFill>
            <a:srgbClr val="E8D8D0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96312"/>
            <a:ext cx="3247949" cy="29260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496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7F00"/>
                </a:solidFill>
              </a:rPr>
              <a:t>r = 0.37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221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Moderate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Table Booking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10712"/>
            <a:ext cx="4389120" cy="292608"/>
          </a:xfrm>
          <a:prstGeom prst="rect">
            <a:avLst/>
          </a:prstGeom>
          <a:solidFill>
            <a:srgbClr val="E8D8D0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10712"/>
            <a:ext cx="2809037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107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r = 0.32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136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Moderate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Cost for Two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325112"/>
            <a:ext cx="4389120" cy="292608"/>
          </a:xfrm>
          <a:prstGeom prst="rect">
            <a:avLst/>
          </a:prstGeom>
          <a:solidFill>
            <a:srgbClr val="E8D8D0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325112"/>
            <a:ext cx="2457907" cy="292608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3251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8AB2"/>
                </a:solidFill>
              </a:rPr>
              <a:t>r = 0.28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4050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Weak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23444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</a:rPr>
              <a:t>Avg Rating by Category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1783080"/>
            <a:ext cx="2560320" cy="502920"/>
          </a:xfrm>
          <a:prstGeom prst="rect">
            <a:avLst/>
          </a:prstGeom>
          <a:solidFill>
            <a:srgbClr val="FFF8F5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1783080"/>
            <a:ext cx="54864" cy="5029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</a:rPr>
              <a:t>Other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20391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★ 3.91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1892808"/>
            <a:ext cx="777240" cy="256032"/>
          </a:xfrm>
          <a:prstGeom prst="rect">
            <a:avLst/>
          </a:prstGeom>
          <a:solidFill>
            <a:srgbClr val="E8D8D0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1892808"/>
            <a:ext cx="495491" cy="25603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2441448"/>
            <a:ext cx="2560320" cy="502920"/>
          </a:xfrm>
          <a:prstGeom prst="rect">
            <a:avLst/>
          </a:prstGeom>
          <a:solidFill>
            <a:srgbClr val="FFF8F5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2441448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</a:rPr>
              <a:t>Buffet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2697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★ 3.84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80960" y="2551176"/>
            <a:ext cx="777240" cy="256032"/>
          </a:xfrm>
          <a:prstGeom prst="rect">
            <a:avLst/>
          </a:prstGeom>
          <a:solidFill>
            <a:srgbClr val="E8D8D0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2551176"/>
            <a:ext cx="427482" cy="25603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3099816"/>
            <a:ext cx="2560320" cy="502920"/>
          </a:xfrm>
          <a:prstGeom prst="rect">
            <a:avLst/>
          </a:prstGeom>
          <a:solidFill>
            <a:srgbClr val="FFF8F5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3099816"/>
            <a:ext cx="54864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145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</a:rPr>
              <a:t>Cafes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72200" y="3355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★ 3.77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80960" y="3209544"/>
            <a:ext cx="777240" cy="256032"/>
          </a:xfrm>
          <a:prstGeom prst="rect">
            <a:avLst/>
          </a:prstGeom>
          <a:solidFill>
            <a:srgbClr val="E8D8D0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0" y="3209544"/>
            <a:ext cx="359474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5040" y="3758184"/>
            <a:ext cx="2560320" cy="502920"/>
          </a:xfrm>
          <a:prstGeom prst="rect">
            <a:avLst/>
          </a:prstGeom>
          <a:solidFill>
            <a:srgbClr val="FFF8F5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3758184"/>
            <a:ext cx="54864" cy="50292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3803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</a:rPr>
              <a:t>Dining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72200" y="40142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4A"/>
                </a:solidFill>
              </a:rPr>
              <a:t>★ 3.57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80960" y="3867912"/>
            <a:ext cx="777240" cy="256032"/>
          </a:xfrm>
          <a:prstGeom prst="rect">
            <a:avLst/>
          </a:prstGeom>
          <a:solidFill>
            <a:srgbClr val="E8D8D0"/>
          </a:solidFill>
          <a:ln w="12700">
            <a:solidFill>
              <a:srgbClr val="E8D8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80960" y="3867912"/>
            <a:ext cx="165163" cy="256032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0A0A"/>
                </a:solidFill>
              </a:rPr>
              <a:t>💡  Insight: Community engagement (votes) is the #1 predictor of restaurant success — focus on visibility and customer interaction first.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Business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SLIDE 05 / 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6400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371600"/>
            <a:ext cx="365760" cy="365760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353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Engagement is 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1810512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4A"/>
                </a:solidFill>
              </a:rPr>
              <a:t>Votes show the strongest correlation (r=0.49) with ratings. Building community through reviews and visibility is the most powerful growth lever.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4023360" cy="6400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371600"/>
            <a:ext cx="365760" cy="36576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85232" y="1353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Table Booking = Quality Signal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1810512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4A"/>
                </a:solidFill>
              </a:rPr>
              <a:t>Restaurants with table booking average 4.19★ vs 3.60★ — a 16.4% lift. Reservation capability signals premium service and serious dining intent.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4023360" cy="64008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246120"/>
            <a:ext cx="365760" cy="365760"/>
          </a:xfrm>
          <a:prstGeom prst="ellipse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Online Order Boosts Reach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3685032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4A"/>
                </a:solidFill>
              </a:rPr>
              <a:t>Offering online ordering increases average ratings by 10.6% (3.49 → 3.86). Convenience correlates strongly with customer satisfaction.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063240"/>
            <a:ext cx="4023360" cy="64008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8032" y="3246120"/>
            <a:ext cx="365760" cy="365760"/>
          </a:xfrm>
          <a:prstGeom prst="ellipse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0A"/>
                </a:solidFill>
              </a:rPr>
              <a:t>Price Is Not Destiny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8032" y="3685032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4A"/>
                </a:solidFill>
              </a:rPr>
              <a:t>Cost explains only 28% of rating variance. A budget restaurant can outperform an expensive one through exceptional service and food quality.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E23744">
              <a:alpha val="15000"/>
            </a:srgbClr>
          </a:solidFill>
          <a:ln w="12700">
            <a:solidFill>
              <a:srgbClr val="E2374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474720"/>
            <a:ext cx="2743200" cy="2743200"/>
          </a:xfrm>
          <a:prstGeom prst="ellipse">
            <a:avLst/>
          </a:prstGeom>
          <a:solidFill>
            <a:srgbClr val="F77F00">
              <a:alpha val="12000"/>
            </a:srgbClr>
          </a:solidFill>
          <a:ln w="12700">
            <a:solidFill>
              <a:srgbClr val="F77F0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82880"/>
            <a:ext cx="1371600" cy="1371600"/>
          </a:xfrm>
          <a:prstGeom prst="ellipse">
            <a:avLst/>
          </a:prstGeom>
          <a:solidFill>
            <a:srgbClr val="E23744">
              <a:alpha val="18000"/>
            </a:srgbClr>
          </a:solidFill>
          <a:ln w="12700">
            <a:solidFill>
              <a:srgbClr val="E23744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B0A090"/>
                </a:solidFill>
              </a:rPr>
              <a:t>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Success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3744"/>
                </a:solidFill>
              </a:rPr>
              <a:t>★  </a:t>
            </a:r>
            <a:pPr indent="0" marL="0">
              <a:buNone/>
            </a:pPr>
            <a:r>
              <a:rPr lang="en-US" sz="1300" dirty="0">
                <a:solidFill>
                  <a:srgbClr val="FFF3E0"/>
                </a:solidFill>
              </a:rPr>
              <a:t>Engage customers actively — votes drive ratings more than any other factor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729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3744"/>
                </a:solidFill>
              </a:rPr>
              <a:t>★  </a:t>
            </a:r>
            <a:pPr indent="0" marL="0">
              <a:buNone/>
            </a:pPr>
            <a:r>
              <a:rPr lang="en-US" sz="1300" dirty="0">
                <a:solidFill>
                  <a:srgbClr val="FFF3E0"/>
                </a:solidFill>
              </a:rPr>
              <a:t>Enable table booking — it signals premium quality and earns a 16% rating boost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64845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3744"/>
                </a:solidFill>
              </a:rPr>
              <a:t>★  </a:t>
            </a:r>
            <a:pPr indent="0" marL="0">
              <a:buNone/>
            </a:pPr>
            <a:r>
              <a:rPr lang="en-US" sz="1300" dirty="0">
                <a:solidFill>
                  <a:srgbClr val="FFF3E0"/>
                </a:solidFill>
              </a:rPr>
              <a:t>Go online — ordering availability is table-stakes for modern restaurants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12394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3744"/>
                </a:solidFill>
              </a:rPr>
              <a:t>★  </a:t>
            </a:r>
            <a:pPr indent="0" marL="0">
              <a:buNone/>
            </a:pPr>
            <a:r>
              <a:rPr lang="en-US" sz="1300" dirty="0">
                <a:solidFill>
                  <a:srgbClr val="FFF3E0"/>
                </a:solidFill>
              </a:rPr>
              <a:t>Quality beats price — create extraordinary experiences at any price point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Zomato Restaurant Intelligence Report  •  Powered by Data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Data Analysis</dc:title>
  <dc:subject>PptxGenJS Presentation</dc:subject>
  <dc:creator>PptxGenJS</dc:creator>
  <cp:lastModifiedBy>PptxGenJS</cp:lastModifiedBy>
  <cp:revision>1</cp:revision>
  <dcterms:created xsi:type="dcterms:W3CDTF">2026-04-13T19:58:45Z</dcterms:created>
  <dcterms:modified xsi:type="dcterms:W3CDTF">2026-04-13T19:58:45Z</dcterms:modified>
</cp:coreProperties>
</file>